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Tool Calls 流程分析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完整数据流与实现机制解析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47695" cy="457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📊 数据流概览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548640"/>
          </a:xfrm>
          <a:prstGeom prst="roundRect">
            <a:avLst/>
          </a:prstGeom>
          <a:solidFill>
            <a:srgbClr val="0052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后端 API</a:t>
            </a:r>
          </a:p>
        </p:txBody>
      </p:sp>
      <p:sp>
        <p:nvSpPr>
          <p:cNvPr id="4" name="Isosceles Triangle 3"/>
          <p:cNvSpPr/>
          <p:nvPr/>
        </p:nvSpPr>
        <p:spPr>
          <a:xfrm rot="10800000">
            <a:off x="5943600" y="22402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331720"/>
            <a:ext cx="8534095" cy="548640"/>
          </a:xfrm>
          <a:prstGeom prst="roundRect">
            <a:avLst/>
          </a:prstGeom>
          <a:solidFill>
            <a:srgbClr val="00A4E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GET /api/v1/session/{sessionId}/conversation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5943600" y="29260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3017520"/>
            <a:ext cx="8534095" cy="548640"/>
          </a:xfrm>
          <a:prstGeom prst="roundRect">
            <a:avLst/>
          </a:prstGeom>
          <a:solidFill>
            <a:srgbClr val="00A4E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getConversationHistory()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943600" y="36118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3703320"/>
            <a:ext cx="8534095" cy="548640"/>
          </a:xfrm>
          <a:prstGeom prst="roundRect">
            <a:avLst/>
          </a:prstGeom>
          <a:solidFill>
            <a:srgbClr val="0052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数据转换与格式化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5943600" y="42976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4389120"/>
            <a:ext cx="8534095" cy="548640"/>
          </a:xfrm>
          <a:prstGeom prst="roundRect">
            <a:avLst/>
          </a:prstGeom>
          <a:solidFill>
            <a:srgbClr val="00A4E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保留 conversation_turn_id 和 tool_calls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5943600" y="49834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5074920"/>
            <a:ext cx="8534095" cy="548640"/>
          </a:xfrm>
          <a:prstGeom prst="roundRect">
            <a:avLst/>
          </a:prstGeom>
          <a:solidFill>
            <a:srgbClr val="FF7F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ChatInterface 组件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943600" y="56692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5760720"/>
            <a:ext cx="8534095" cy="548640"/>
          </a:xfrm>
          <a:prstGeom prst="roundRect">
            <a:avLst/>
          </a:prstGeom>
          <a:solidFill>
            <a:srgbClr val="FF7F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useEffect 监听与提取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943600" y="6355079"/>
            <a:ext cx="274320" cy="91440"/>
          </a:xfrm>
          <a:prstGeom prst="triangle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6446520"/>
            <a:ext cx="8534095" cy="548640"/>
          </a:xfrm>
          <a:prstGeom prst="roundRect">
            <a:avLst/>
          </a:prstGeom>
          <a:solidFill>
            <a:srgbClr val="0052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UI 渲染 Tool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1️⃣ 数据获取流程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A4EF"/>
                </a:solidFill>
              </a:defRPr>
            </a:pPr>
            <a:r>
              <a:t>API 调用</a:t>
            </a:r>
          </a:p>
          <a:p>
            <a:pPr>
              <a:spcBef>
                <a:spcPts val="1200"/>
              </a:spcBef>
              <a:defRPr sz="1800" b="1">
                <a:solidFill>
                  <a:srgbClr val="005293"/>
                </a:solidFill>
              </a:defRPr>
            </a:pPr>
            <a:r>
              <a:t>接口</a:t>
            </a:r>
          </a:p>
          <a:p>
            <a:pPr lvl="1">
              <a:spcBef>
                <a:spcPts val="200"/>
              </a:spcBef>
              <a:defRPr sz="1400">
                <a:solidFill>
                  <a:srgbClr val="343A40"/>
                </a:solidFill>
              </a:defRPr>
            </a:pPr>
            <a:r>
              <a:t>GET /api/v1/session/{sessionId}/conversation</a:t>
            </a:r>
          </a:p>
          <a:p>
            <a:pPr>
              <a:spcBef>
                <a:spcPts val="1200"/>
              </a:spcBef>
              <a:defRPr sz="1800" b="1">
                <a:solidFill>
                  <a:srgbClr val="005293"/>
                </a:solidFill>
              </a:defRPr>
            </a:pPr>
            <a:r>
              <a:t>位置</a:t>
            </a:r>
          </a:p>
          <a:p>
            <a:pPr lvl="1">
              <a:spcBef>
                <a:spcPts val="200"/>
              </a:spcBef>
              <a:defRPr sz="1400">
                <a:solidFill>
                  <a:srgbClr val="343A40"/>
                </a:solidFill>
              </a:defRPr>
            </a:pPr>
            <a:r>
              <a:t>agentService.ts:390-458</a:t>
            </a:r>
          </a:p>
          <a:p>
            <a:pPr>
              <a:spcBef>
                <a:spcPts val="1200"/>
              </a:spcBef>
              <a:defRPr sz="1800" b="1">
                <a:solidFill>
                  <a:srgbClr val="005293"/>
                </a:solidFill>
              </a:defRPr>
            </a:pPr>
            <a:r>
              <a:t>功能</a:t>
            </a:r>
          </a:p>
          <a:p>
            <a:pPr lvl="1">
              <a:spcBef>
                <a:spcPts val="200"/>
              </a:spcBef>
              <a:defRPr sz="1400">
                <a:solidFill>
                  <a:srgbClr val="343A40"/>
                </a:solidFill>
              </a:defRPr>
            </a:pPr>
            <a:r>
              <a:t>从后端获取对话历史</a:t>
            </a:r>
          </a:p>
          <a:p>
            <a:pPr>
              <a:spcBef>
                <a:spcPts val="1200"/>
              </a:spcBef>
              <a:defRPr sz="1800" b="1">
                <a:solidFill>
                  <a:srgbClr val="005293"/>
                </a:solidFill>
              </a:defRPr>
            </a:pPr>
            <a:r>
              <a:t>触发时机</a:t>
            </a:r>
          </a:p>
          <a:p>
            <a:pPr lvl="1">
              <a:spcBef>
                <a:spcPts val="200"/>
              </a:spcBef>
              <a:defRPr sz="1400">
                <a:solidFill>
                  <a:srgbClr val="343A40"/>
                </a:solidFill>
              </a:defRPr>
            </a:pPr>
            <a:r>
              <a:t>• 初始化时</a:t>
            </a:r>
            <a:br/>
            <a:r>
              <a:t>• 切换会话时</a:t>
            </a:r>
            <a:br/>
            <a:r>
              <a:t>• 外部会话切换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86400" cy="49377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2000" b="1">
                <a:solidFill>
                  <a:srgbClr val="005293"/>
                </a:solidFill>
              </a:defRPr>
            </a:pPr>
            <a:r>
              <a:t>返回数据结构</a:t>
            </a:r>
          </a:p>
          <a:p>
            <a:pPr>
              <a:spcBef>
                <a:spcPts val="800"/>
              </a:spcBef>
              <a:defRPr sz="1100">
                <a:solidFill>
                  <a:srgbClr val="343A40"/>
                </a:solidFill>
                <a:latin typeface="Courier New"/>
              </a:defRPr>
            </a:pPr>
            <a:r>
              <a:t>{</a:t>
            </a:r>
            <a:br/>
            <a:r>
              <a:t>  "session_id": "xxx",</a:t>
            </a:r>
            <a:br/>
            <a:r>
              <a:t>  "messages": [</a:t>
            </a:r>
            <a:br/>
            <a:r>
              <a:t>    {</a:t>
            </a:r>
            <a:br/>
            <a:r>
              <a:t>      "id": "ai-3",</a:t>
            </a:r>
            <a:br/>
            <a:r>
              <a:t>      "text": "...",</a:t>
            </a:r>
            <a:br/>
            <a:r>
              <a:t>      "sender": "ai",</a:t>
            </a:r>
            <a:br/>
            <a:r>
              <a:t>      "timestamp": "2025-12-30...",</a:t>
            </a:r>
            <a:br/>
            <a:r>
              <a:t>      "conversation_turn_id": "98a93fe3...",</a:t>
            </a:r>
            <a:br/>
            <a:r>
              <a:t>      "tool_calls": [</a:t>
            </a:r>
            <a:br/>
            <a:r>
              <a:t>        {</a:t>
            </a:r>
            <a:br/>
            <a:r>
              <a:t>          "tool_use_id": "call_xxx",</a:t>
            </a:r>
            <a:br/>
            <a:r>
              <a:t>          "tool_name": "WebSearch",</a:t>
            </a:r>
            <a:br/>
            <a:r>
              <a:t>          "tool_input": {...},</a:t>
            </a:r>
            <a:br/>
            <a:r>
              <a:t>          "tool_output": null,</a:t>
            </a:r>
            <a:br/>
            <a:r>
              <a:t>          "conversation_turn_id": "98a93fe3..."</a:t>
            </a:r>
            <a:br/>
            <a:r>
              <a:t>        }</a:t>
            </a:r>
            <a:br/>
            <a:r>
              <a:t>      ]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2️⃣ 工具调用提取流程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3A40"/>
                </a:solidFill>
              </a:defRPr>
            </a:pPr>
            <a:r>
              <a:t>位置：ChatInterface.tsx:1368-1534 | 依赖：[messages, sessionId, selectedTurnId]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474720" cy="25603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402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4E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4EF"/>
                </a:solidFill>
              </a:defRPr>
            </a:pPr>
            <a:r>
              <a:t>确定目标轮次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43A40"/>
                </a:solidFill>
              </a:defRPr>
            </a:pPr>
            <a:r>
              <a:t>• 检查是否有 selectedTurnId</a:t>
            </a:r>
          </a:p>
          <a:p>
            <a:r>
              <a:t>• 有：使用用户选择的轮次</a:t>
            </a:r>
          </a:p>
          <a:p>
            <a:r>
              <a:t>• 无：使用最新 AI 消息的轮次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03120"/>
            <a:ext cx="3474720" cy="25603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F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2402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0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2860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00"/>
                </a:solidFill>
              </a:defRPr>
            </a:pPr>
            <a:r>
              <a:t>提取工具调用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880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43A40"/>
                </a:solidFill>
              </a:defRPr>
            </a:pPr>
            <a:r>
              <a:t>• 遍历所有消息的 tool_calls</a:t>
            </a:r>
          </a:p>
          <a:p>
            <a:r>
              <a:t>• 匹配 conversation_turn_id</a:t>
            </a:r>
          </a:p>
          <a:p>
            <a:r>
              <a:t>• 只提取目标轮次的工具调用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103120"/>
            <a:ext cx="3474720" cy="25603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2402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8A745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更新状态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880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43A40"/>
                </a:solidFill>
              </a:defRPr>
            </a:pPr>
            <a:r>
              <a:t>• setToolCalls(extractedToolCalls)</a:t>
            </a:r>
          </a:p>
          <a:p>
            <a:r>
              <a:t>• 触发 UI 重新渲染</a:t>
            </a:r>
          </a:p>
          <a:p>
            <a:r>
              <a:t>• 显示选中轮次的工具调用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7295" cy="146304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🔑 核心匹配逻辑</a:t>
            </a:r>
          </a:p>
          <a:p>
            <a:pPr algn="ctr">
              <a:spcBef>
                <a:spcPts val="800"/>
              </a:spcBef>
              <a:defRPr sz="1200">
                <a:solidFill>
                  <a:srgbClr val="C8DCFF"/>
                </a:solidFill>
                <a:latin typeface="Courier New"/>
              </a:defRPr>
            </a:pPr>
            <a:r>
              <a:t>const toolTurnIdStr = String(toolCallTurnId || '');</a:t>
            </a:r>
            <a:br/>
            <a:r>
              <a:t>const targetTurnIdStr = String(targetTurnId || '');</a:t>
            </a:r>
            <a:br/>
            <a:r>
              <a:t>if (toolTurnIdStr === targetTurnIdStr) {</a:t>
            </a:r>
            <a:br/>
            <a:r>
              <a:t>    // 匹配成功，添加到工具调用列表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3️⃣ 用户交互流程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3A40"/>
                </a:solidFill>
              </a:defRPr>
            </a:pPr>
            <a:r>
              <a:t>位置：ChatInterface.tsx:2112-2171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47472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🖱️ 点击 AI 消息（长消息）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点击长消息的按钮区域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03120"/>
            <a:ext cx="347472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📝 点击 AI 消息（短消息）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26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直接点击短消息的内容区域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03120"/>
            <a:ext cx="347472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2860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👤 点击用户消息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926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点击用户发送的消息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11277295" cy="2377440"/>
          </a:xfrm>
          <a:prstGeom prst="roundRect">
            <a:avLst/>
          </a:prstGeom>
          <a:solidFill>
            <a:srgbClr val="E8F4FF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⚙️ 设置逻辑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  <a:latin typeface="Courier New"/>
              </a:defRPr>
            </a:pPr>
            <a:r>
              <a:t>onClick={() =&gt; {</a:t>
            </a:r>
          </a:p>
          <a:p>
            <a:r>
              <a:t>  if (m.conversation_turn_id) {</a:t>
            </a:r>
          </a:p>
          <a:p>
            <a:r>
              <a:t>    setSelectedTurnId(m.conversation_turn_id);</a:t>
            </a:r>
          </a:p>
          <a:p>
            <a:r>
              <a:t>    console.log('✅ 已设置 selectedTurnId:', m.conversation_turn_id);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4️⃣ 常见问题诊断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❌ selectedTurnId 未正确设置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00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🔍 检查：点击消息时是否有日志输出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00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A745"/>
                </a:solidFill>
              </a:defRPr>
            </a:pPr>
            <a:r>
              <a:t>✅ 解决：确保消息有 conversation_turn_id 字段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❌ useEffect 未触发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🔍 检查：selectedTurnId 变化时是否有日志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260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A745"/>
                </a:solidFill>
              </a:defRPr>
            </a:pPr>
            <a:r>
              <a:t>✅ 解决：确保依赖数组包含 selectedTurnId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❌ 工具调用匹配失败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🔍 检查：工具调用轮次匹配检查日志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51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A745"/>
                </a:solidFill>
              </a:defRPr>
            </a:pPr>
            <a:r>
              <a:t>✅ 解决：检查类型转换和字符串比较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40679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❌ tool_calls 缺少 conversation_turn_id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3A40"/>
                </a:solidFill>
              </a:defRPr>
            </a:pPr>
            <a:r>
              <a:t>🔍 检查：getConversationHistory 消息日志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577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A745"/>
                </a:solidFill>
              </a:defRPr>
            </a:pPr>
            <a:r>
              <a:t>✅ 解决：确保后端返回包含 conversation_turn_id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5️⃣ 调试检查清单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检查数据获取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[getConversationHistory] Fetching history...</a:t>
            </a:r>
          </a:p>
          <a:p>
            <a:r>
              <a:t>[getConversationHistory] Response data: {...}</a:t>
            </a:r>
          </a:p>
          <a:p>
            <a:r>
              <a:t>[getConversationHistory] 消息 #X: {conversation_turn_id: "xxx"}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632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检查消息渲染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[ChatInterface] Rendering message: {</a:t>
            </a:r>
          </a:p>
          <a:p>
            <a:r>
              <a:t>  conversation_turn_id: "xxx",</a:t>
            </a:r>
          </a:p>
          <a:p>
            <a:r>
              <a:t>  has_tool_calls: true,</a:t>
            </a:r>
          </a:p>
          <a:p>
            <a:r>
              <a:t>  tool_calls_count: X</a:t>
            </a:r>
          </a:p>
          <a:p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548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检查点击事件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5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🖱️ 点击短消息: {conversation_turn_id: "xxx"}</a:t>
            </a:r>
          </a:p>
          <a:p>
            <a:r>
              <a:t>✅ 已设置 selectedTurnId: {conversation_turn_id: "xxx"}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检查状态变化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🎯 selectedTurnId 状态变化: {selectedTurnId: "xxx"}</a:t>
            </a:r>
          </a:p>
          <a:p>
            <a:r>
              <a:t>🔧 [useEffect] 开始提取工具调用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检查工具调用匹配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🔍 工具调用轮次匹配检查: {</a:t>
            </a:r>
          </a:p>
          <a:p>
            <a:r>
              <a:t>  tool_turn_id: "xxx",</a:t>
            </a:r>
          </a:p>
          <a:p>
            <a:r>
              <a:t>  target_turn_id: "xxx",</a:t>
            </a:r>
          </a:p>
          <a:p>
            <a:r>
              <a:t>  isMatch: true/false</a:t>
            </a:r>
          </a:p>
          <a:p>
            <a: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63440"/>
            <a:ext cx="54864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754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3"/>
                </a:solidFill>
              </a:defRPr>
            </a:pPr>
            <a:r>
              <a:t>检查最终状态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6635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43A40"/>
                </a:solidFill>
                <a:latin typeface="Courier New"/>
              </a:defRPr>
            </a:pPr>
            <a:r>
              <a:t>🔧 工具调用状态更新: {total: X, selectedTurnId: "xxx"}</a:t>
            </a:r>
          </a:p>
          <a:p>
            <a:r>
              <a:t>🔧 工具列表渲染状态: {toolCallsCount: X}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📁 关键代码位置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743200" cy="8229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5029200" cy="8229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文件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3200400" cy="8229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行号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3A40"/>
                </a:solidFill>
              </a:defRPr>
            </a:pPr>
            <a:r>
              <a:t>API 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28600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43A40"/>
                </a:solidFill>
                <a:latin typeface="Courier New"/>
              </a:defRPr>
            </a:pPr>
            <a:r>
              <a:t>agentService.ts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286000"/>
            <a:ext cx="35048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7F00"/>
                </a:solidFill>
                <a:latin typeface="Courier New"/>
              </a:defRPr>
            </a:pPr>
            <a:r>
              <a:t>393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27432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3A40"/>
                </a:solidFill>
              </a:defRPr>
            </a:pPr>
            <a:r>
              <a:t>数据转换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1089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43A40"/>
                </a:solidFill>
                <a:latin typeface="Courier New"/>
              </a:defRPr>
            </a:pPr>
            <a:r>
              <a:t>agentService.ts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108960"/>
            <a:ext cx="35048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7F00"/>
                </a:solidFill>
                <a:latin typeface="Courier New"/>
              </a:defRPr>
            </a:pPr>
            <a:r>
              <a:t>414-448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27432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3A40"/>
                </a:solidFill>
              </a:defRPr>
            </a:pPr>
            <a:r>
              <a:t>工具调用提取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9319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43A40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5048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7F00"/>
                </a:solidFill>
                <a:latin typeface="Courier New"/>
              </a:defRPr>
            </a:pPr>
            <a:r>
              <a:t>1368-1534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27432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3A40"/>
                </a:solidFill>
              </a:defRPr>
            </a:pPr>
            <a:r>
              <a:t>点击消息设置轮次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7548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43A40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754880"/>
            <a:ext cx="35048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7F00"/>
                </a:solidFill>
                <a:latin typeface="Courier New"/>
              </a:defRPr>
            </a:pPr>
            <a:r>
              <a:t>2112-2171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77840"/>
            <a:ext cx="27432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3A40"/>
                </a:solidFill>
              </a:defRPr>
            </a:pPr>
            <a:r>
              <a:t>UI 渲染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57784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43A40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577840"/>
            <a:ext cx="35048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7F00"/>
                </a:solidFill>
                <a:latin typeface="Courier New"/>
              </a:defRPr>
            </a:pPr>
            <a:r>
              <a:t>2518-2583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✅ 数据验证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77295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✅ 结论：数据完整，问题应在提取或匹配逻辑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5293"/>
                </a:solidFill>
              </a:defRPr>
            </a:pPr>
            <a:r>
              <a:t>📨 有 conversation_turn_id 的消息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user-3: 98a93fe3e096408d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ai-3: 98a93fe3e096408d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user-4: 4c1ca2cc75254fa4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ai-4: 4c1ca2cc75254fa4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user-5: 69eb8567759e424c</a:t>
            </a:r>
          </a:p>
          <a:p>
            <a:pPr>
              <a:spcBef>
                <a:spcPts val="400"/>
              </a:spcBef>
              <a:defRPr sz="1400">
                <a:solidFill>
                  <a:srgbClr val="343A40"/>
                </a:solidFill>
              </a:defRPr>
            </a:pPr>
            <a:r>
              <a:t>✓ ai-5: 69eb8567759e424c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108960"/>
            <a:ext cx="5486400" cy="32918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005293"/>
                </a:solidFill>
              </a:defRPr>
            </a:pPr>
            <a:r>
              <a:t>🔧 tool_calls 中也有 conversation_turn_id</a:t>
            </a:r>
          </a:p>
          <a:p>
            <a:pPr>
              <a:defRPr sz="1200">
                <a:solidFill>
                  <a:srgbClr val="343A40"/>
                </a:solidFill>
                <a:latin typeface="Courier New"/>
              </a:defRPr>
            </a:pPr>
            <a:r>
              <a:t>{</a:t>
            </a:r>
            <a:br/>
            <a:r>
              <a:t>  "tool_use_id": "call_xxx",</a:t>
            </a:r>
            <a:br/>
            <a:r>
              <a:t>  "tool_name": "WebSearch",</a:t>
            </a:r>
            <a:br/>
            <a:r>
              <a:t>  "tool_input": {...},</a:t>
            </a:r>
            <a:br/>
            <a:r>
              <a:t>  "tool_output": null,</a:t>
            </a:r>
            <a:br/>
            <a:r>
              <a:t>  "conversation_turn_id": "98a93fe3..."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3"/>
                </a:solidFill>
              </a:defRPr>
            </a:pPr>
            <a:r>
              <a:t>🚀 下一步调试步骤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🔄 刷新页面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查看控制台是否有 [getConversationHistory] 相关日志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0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🖱️ 点击有 conversation_turn_id 的消息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例如 user-3 或 ai-3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0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🔍 查看控制台输出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确认点击事件和状态变化日志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11277295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00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📋 切换到 Tool Calls 标签页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查看是否显示对应轮次的工具调用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43A40"/>
                </a:solidFill>
              </a:defRPr>
            </a:pPr>
            <a:r>
              <a:t>💡 如果还是没有输出，请提供控制台的完整日志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t>✅ 数据流完整：API → 转换 → 存储 → 提取 → 渲染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t>✅ 数据结构完整：conversation_turn_id 和 tool_calls 都有值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t>✅ 交互逻辑清晰：点击消息 → 设置轮次 → 提取工具 → UI渲染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t>🔍 问题定位：重点检查提取逻辑和匹配机制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t>🛠️ 调试工具：完善的日志系统支持快速定位问题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303520"/>
            <a:ext cx="3047695" cy="4572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C8FF"/>
                </a:solidFill>
              </a:defRPr>
            </a:pPr>
            <a:r>
              <a:t>基于完整的代码分析和数据流梳理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