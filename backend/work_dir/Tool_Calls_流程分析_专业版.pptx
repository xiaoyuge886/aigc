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0" y="5486400"/>
            <a:ext cx="1371600" cy="1371600"/>
          </a:xfrm>
          <a:prstGeom prst="ellipse">
            <a:avLst/>
          </a:prstGeom>
          <a:solidFill>
            <a:srgbClr val="FF8C00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4389120"/>
            <a:ext cx="1828800" cy="1828800"/>
          </a:xfrm>
          <a:prstGeom prst="ellipse">
            <a:avLst/>
          </a:prstGeom>
          <a:solidFill>
            <a:srgbClr val="FF8C00">
              <a:lumMod val="75000"/>
              <a:lumOff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0" y="3291840"/>
            <a:ext cx="2286000" cy="2286000"/>
          </a:xfrm>
          <a:prstGeom prst="ellipse">
            <a:avLst/>
          </a:prstGeom>
          <a:solidFill>
            <a:srgbClr val="FF8C00">
              <a:lumMod val="80000"/>
              <a:lumOff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114800" y="2194560"/>
            <a:ext cx="2743200" cy="2743200"/>
          </a:xfrm>
          <a:prstGeom prst="ellipse">
            <a:avLst/>
          </a:prstGeom>
          <a:solidFill>
            <a:srgbClr val="FF8C00">
              <a:lumMod val="85000"/>
              <a:lumOff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28800" y="1097280"/>
            <a:ext cx="3200400" cy="3200400"/>
          </a:xfrm>
          <a:prstGeom prst="ellipse">
            <a:avLst/>
          </a:prstGeom>
          <a:solidFill>
            <a:srgbClr val="FF8C00">
              <a:lumMod val="90000"/>
              <a:lumOff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6400" b="1">
                <a:solidFill>
                  <a:srgbClr val="FFFFFF"/>
                </a:solidFill>
              </a:defRPr>
            </a:pPr>
            <a:r>
              <a:t>Tool Calls</a:t>
            </a:r>
          </a:p>
          <a:p>
            <a:pPr algn="ctr">
              <a:defRPr sz="4800" b="1">
                <a:solidFill>
                  <a:srgbClr val="FF8C00"/>
                </a:solidFill>
              </a:defRPr>
            </a:pPr>
            <a:r>
              <a:t>流程分析报告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4C8E6"/>
                </a:solidFill>
              </a:defRPr>
            </a:pPr>
            <a:r>
              <a:t>完整数据流与实现机制解析 | Technical Documentation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5303520"/>
            <a:ext cx="3962095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0" y="59436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C757D"/>
                </a:solidFill>
              </a:defRPr>
            </a:pPr>
            <a:r>
              <a:t>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2179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C757D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274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43264"/>
                </a:solidFill>
              </a:defRPr>
            </a:pPr>
            <a:r>
              <a:t>目录 |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8C00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69164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3264"/>
                </a:solidFill>
              </a:defRPr>
            </a:pPr>
            <a:r>
              <a:t>数据流概览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96596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C757D"/>
                </a:solidFill>
              </a:defRPr>
            </a:pPr>
            <a:r>
              <a:t>Data Flow Overview</a:t>
            </a:r>
          </a:p>
        </p:txBody>
      </p:sp>
      <p:sp>
        <p:nvSpPr>
          <p:cNvPr id="8" name="Oval 7"/>
          <p:cNvSpPr/>
          <p:nvPr/>
        </p:nvSpPr>
        <p:spPr>
          <a:xfrm>
            <a:off x="1188720" y="2103120"/>
            <a:ext cx="45720" cy="45720"/>
          </a:xfrm>
          <a:prstGeom prst="ellipse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8C00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28600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3264"/>
                </a:solidFill>
              </a:defRPr>
            </a:pPr>
            <a:r>
              <a:t>数据获取机制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5603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C757D"/>
                </a:solidFill>
              </a:defRPr>
            </a:pPr>
            <a:r>
              <a:t>Data Acquisition</a:t>
            </a:r>
          </a:p>
        </p:txBody>
      </p:sp>
      <p:sp>
        <p:nvSpPr>
          <p:cNvPr id="12" name="Oval 11"/>
          <p:cNvSpPr/>
          <p:nvPr/>
        </p:nvSpPr>
        <p:spPr>
          <a:xfrm>
            <a:off x="1188720" y="2697480"/>
            <a:ext cx="45720" cy="45720"/>
          </a:xfrm>
          <a:prstGeom prst="ellipse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8346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8C00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88036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3264"/>
                </a:solidFill>
              </a:defRPr>
            </a:pPr>
            <a:r>
              <a:t>工具调用提取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1546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C757D"/>
                </a:solidFill>
              </a:defRPr>
            </a:pPr>
            <a:r>
              <a:t>Tool Calls Extraction</a:t>
            </a:r>
          </a:p>
        </p:txBody>
      </p:sp>
      <p:sp>
        <p:nvSpPr>
          <p:cNvPr id="16" name="Oval 15"/>
          <p:cNvSpPr/>
          <p:nvPr/>
        </p:nvSpPr>
        <p:spPr>
          <a:xfrm>
            <a:off x="1188720" y="3291840"/>
            <a:ext cx="45720" cy="45720"/>
          </a:xfrm>
          <a:prstGeom prst="ellipse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4290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8C00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47472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3264"/>
                </a:solidFill>
              </a:defRPr>
            </a:pPr>
            <a:r>
              <a:t>用户交互流程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749039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C757D"/>
                </a:solidFill>
              </a:defRPr>
            </a:pPr>
            <a:r>
              <a:t>User Interaction</a:t>
            </a:r>
          </a:p>
        </p:txBody>
      </p:sp>
      <p:sp>
        <p:nvSpPr>
          <p:cNvPr id="20" name="Oval 19"/>
          <p:cNvSpPr/>
          <p:nvPr/>
        </p:nvSpPr>
        <p:spPr>
          <a:xfrm>
            <a:off x="1188720" y="3886200"/>
            <a:ext cx="45720" cy="45720"/>
          </a:xfrm>
          <a:prstGeom prst="ellipse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0233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8C00"/>
                </a:solidFill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06908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3264"/>
                </a:solidFill>
              </a:defRPr>
            </a:pPr>
            <a:r>
              <a:t>问题诊断方案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34340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C757D"/>
                </a:solidFill>
              </a:defRPr>
            </a:pPr>
            <a:r>
              <a:t>Troubleshooting</a:t>
            </a:r>
          </a:p>
        </p:txBody>
      </p:sp>
      <p:sp>
        <p:nvSpPr>
          <p:cNvPr id="24" name="Oval 23"/>
          <p:cNvSpPr/>
          <p:nvPr/>
        </p:nvSpPr>
        <p:spPr>
          <a:xfrm>
            <a:off x="1188720" y="4480560"/>
            <a:ext cx="45720" cy="45720"/>
          </a:xfrm>
          <a:prstGeom prst="ellipse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6177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8C00"/>
                </a:solidFill>
              </a:defRPr>
            </a:pPr>
            <a: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66344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3264"/>
                </a:solidFill>
              </a:defRPr>
            </a:pPr>
            <a:r>
              <a:t>关键代码索引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937759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C757D"/>
                </a:solidFill>
              </a:defRPr>
            </a:pPr>
            <a:r>
              <a:t>Code Reference</a:t>
            </a:r>
          </a:p>
        </p:txBody>
      </p:sp>
      <p:sp>
        <p:nvSpPr>
          <p:cNvPr id="28" name="Oval 27"/>
          <p:cNvSpPr/>
          <p:nvPr/>
        </p:nvSpPr>
        <p:spPr>
          <a:xfrm>
            <a:off x="1188720" y="5074920"/>
            <a:ext cx="45720" cy="45720"/>
          </a:xfrm>
          <a:prstGeom prst="ellipse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2120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8C00"/>
                </a:solidFill>
              </a:defRPr>
            </a:pPr>
            <a: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25780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3264"/>
                </a:solidFill>
              </a:defRPr>
            </a:pPr>
            <a:r>
              <a:t>总结与建议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5321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6C757D"/>
                </a:solidFill>
              </a:defRPr>
            </a:pPr>
            <a:r>
              <a:t>Summary &amp; Recommendations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515600" y="1828800"/>
            <a:ext cx="73152" cy="73152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515600" y="2926080"/>
            <a:ext cx="73152" cy="73152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515600" y="4023360"/>
            <a:ext cx="73152" cy="73152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0" y="62179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C757D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274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3264"/>
                </a:solidFill>
              </a:defRPr>
            </a:pPr>
            <a:r>
              <a:t>01 数据流概览 | Data Flow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C757D"/>
                </a:solidFill>
              </a:defRPr>
            </a:pPr>
            <a:r>
              <a:t>完整的端到端数据流向分析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2286000" cy="1371600"/>
          </a:xfrm>
          <a:prstGeom prst="roundRect">
            <a:avLst/>
          </a:prstGeom>
          <a:solidFill>
            <a:srgbClr val="14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后端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6032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DCE6FF"/>
                </a:solidFill>
              </a:defRPr>
            </a:pPr>
            <a:r>
              <a:t>Backend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645920"/>
            <a:ext cx="2286000" cy="137160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19202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GET /api/v1/session/</a:t>
            </a:r>
          </a:p>
          <a:p>
            <a:r>
              <a:t>{sessionId}/conversation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56032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DCE6FF"/>
                </a:solidFill>
              </a:defRPr>
            </a:pPr>
            <a:r>
              <a:t>RESTful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645920"/>
            <a:ext cx="2286000" cy="1371600"/>
          </a:xfrm>
          <a:prstGeom prst="round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19202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getConversation</a:t>
            </a:r>
          </a:p>
          <a:p>
            <a:r>
              <a:t>History()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56032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DCE6FF"/>
                </a:solidFill>
              </a:defRPr>
            </a:pPr>
            <a:r>
              <a:t>Data Fetch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645920"/>
            <a:ext cx="2286000" cy="13716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19202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数据转换</a:t>
            </a:r>
          </a:p>
          <a:p>
            <a:r>
              <a:t>&amp; 格式化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56032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DCE6FF"/>
                </a:solidFill>
              </a:defRPr>
            </a:pPr>
            <a:r>
              <a:t>Transform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474720"/>
            <a:ext cx="2286000" cy="1371600"/>
          </a:xfrm>
          <a:prstGeom prst="roundRect">
            <a:avLst/>
          </a:prstGeom>
          <a:solidFill>
            <a:srgbClr val="14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4903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ChatInterface</a:t>
            </a:r>
          </a:p>
          <a:p>
            <a:r>
              <a:t>组件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38912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DCE6FF"/>
                </a:solidFill>
              </a:defRPr>
            </a:pPr>
            <a:r>
              <a:t>UI Layer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0" y="3474720"/>
            <a:ext cx="2286000" cy="137160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7560" y="374903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useEffect</a:t>
            </a:r>
          </a:p>
          <a:p>
            <a:r>
              <a:t>监听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438912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DCE6FF"/>
                </a:solidFill>
              </a:defRPr>
            </a:pPr>
            <a:r>
              <a:t>State Mgmt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3474720"/>
            <a:ext cx="2286000" cy="1371600"/>
          </a:xfrm>
          <a:prstGeom prst="round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60" y="374903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工具调用</a:t>
            </a:r>
          </a:p>
          <a:p>
            <a:r>
              <a:t>提取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438912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DCE6FF"/>
                </a:solidFill>
              </a:defRPr>
            </a:pPr>
            <a:r>
              <a:t>Extraction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0" y="3474720"/>
            <a:ext cx="2286000" cy="13716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23960" y="374903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UI 渲染</a:t>
            </a:r>
          </a:p>
          <a:p>
            <a:r>
              <a:t>Tool Calls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438912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DCE6FF"/>
                </a:solidFill>
              </a:defRPr>
            </a:pPr>
            <a:r>
              <a:t>Display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2743200" y="2148840"/>
            <a:ext cx="274320" cy="182880"/>
          </a:xfrm>
          <a:prstGeom prst="right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ght Arrow 30"/>
          <p:cNvSpPr/>
          <p:nvPr/>
        </p:nvSpPr>
        <p:spPr>
          <a:xfrm>
            <a:off x="5486400" y="2148840"/>
            <a:ext cx="274320" cy="182880"/>
          </a:xfrm>
          <a:prstGeom prst="right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Arrow 31"/>
          <p:cNvSpPr/>
          <p:nvPr/>
        </p:nvSpPr>
        <p:spPr>
          <a:xfrm>
            <a:off x="8229600" y="2148840"/>
            <a:ext cx="274320" cy="182880"/>
          </a:xfrm>
          <a:prstGeom prst="right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ght Arrow 32"/>
          <p:cNvSpPr/>
          <p:nvPr/>
        </p:nvSpPr>
        <p:spPr>
          <a:xfrm>
            <a:off x="2743200" y="3977639"/>
            <a:ext cx="274320" cy="182880"/>
          </a:xfrm>
          <a:prstGeom prst="right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/>
        </p:nvSpPr>
        <p:spPr>
          <a:xfrm>
            <a:off x="5486400" y="3977639"/>
            <a:ext cx="274320" cy="182880"/>
          </a:xfrm>
          <a:prstGeom prst="right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8229600" y="3977639"/>
            <a:ext cx="274320" cy="182880"/>
          </a:xfrm>
          <a:prstGeom prst="right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own Arrow 35"/>
          <p:cNvSpPr/>
          <p:nvPr/>
        </p:nvSpPr>
        <p:spPr>
          <a:xfrm>
            <a:off x="1371600" y="3017520"/>
            <a:ext cx="182880" cy="274320"/>
          </a:xfrm>
          <a:prstGeom prst="down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own Arrow 36"/>
          <p:cNvSpPr/>
          <p:nvPr/>
        </p:nvSpPr>
        <p:spPr>
          <a:xfrm>
            <a:off x="5943600" y="3017520"/>
            <a:ext cx="182880" cy="274320"/>
          </a:xfrm>
          <a:prstGeom prst="downArrow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3035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12529"/>
                </a:solidFill>
              </a:defRPr>
            </a:pPr>
            <a:r>
              <a:t>📊 关键特性：数据完整性保障 • 双向数据流 • 状态管理 • 实时更新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0" y="62179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C757D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274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264"/>
                </a:solidFill>
              </a:defRPr>
            </a:pPr>
            <a:r>
              <a:t>02 数据获取机制 | Data Acquisition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03520" cy="1097280"/>
          </a:xfrm>
          <a:prstGeom prst="roundRect">
            <a:avLst/>
          </a:prstGeom>
          <a:solidFill>
            <a:srgbClr val="E6F2FF"/>
          </a:solidFill>
          <a:ln w="254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3264"/>
                </a:solidFill>
              </a:defRPr>
            </a:pPr>
            <a:r>
              <a:t>🔌 API 端点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74519"/>
            <a:ext cx="50292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200">
                <a:solidFill>
                  <a:srgbClr val="212529"/>
                </a:solidFill>
              </a:defRPr>
            </a:pPr>
            <a:r>
              <a:t>GET /api/v1/session/{sessionId}/conversation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06040"/>
            <a:ext cx="5303520" cy="1097280"/>
          </a:xfrm>
          <a:prstGeom prst="roundRect">
            <a:avLst/>
          </a:prstGeom>
          <a:solidFill>
            <a:srgbClr val="E6F2FF"/>
          </a:solidFill>
          <a:ln w="254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71576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3264"/>
                </a:solidFill>
              </a:defRPr>
            </a:pPr>
            <a:r>
              <a:t>📂 代码位置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50292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200">
                <a:solidFill>
                  <a:srgbClr val="212529"/>
                </a:solidFill>
              </a:defRPr>
            </a:pPr>
            <a:r>
              <a:t>agentService.ts:390-458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40480"/>
            <a:ext cx="5303520" cy="1097280"/>
          </a:xfrm>
          <a:prstGeom prst="roundRect">
            <a:avLst/>
          </a:prstGeom>
          <a:solidFill>
            <a:srgbClr val="E6F2FF"/>
          </a:solidFill>
          <a:ln w="254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9502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3264"/>
                </a:solidFill>
              </a:defRPr>
            </a:pPr>
            <a:r>
              <a:t>⚡ 触发时机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343400"/>
            <a:ext cx="50292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200">
                <a:solidFill>
                  <a:srgbClr val="212529"/>
                </a:solidFill>
              </a:defRPr>
            </a:pPr>
            <a:r>
              <a:t>• 初始化时</a:t>
            </a:r>
          </a:p>
          <a:p>
            <a:r>
              <a:t>• 切换会话时</a:t>
            </a:r>
          </a:p>
          <a:p>
            <a:r>
              <a:t>• 外部会话切换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3716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3264"/>
                </a:solidFill>
              </a:defRPr>
            </a:pPr>
            <a:r>
              <a:t>📦 返回数据结构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783080"/>
            <a:ext cx="5486400" cy="2468880"/>
          </a:xfrm>
          <a:prstGeom prst="roundRect">
            <a:avLst/>
          </a:prstGeom>
          <a:solidFill>
            <a:srgbClr val="212529"/>
          </a:solidFill>
          <a:ln w="254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37160" rIns="137160"/>
          <a:lstStyle/>
          <a:p>
            <a:pPr algn="ctr">
              <a:defRPr sz="1000">
                <a:solidFill>
                  <a:srgbClr val="64FF64"/>
                </a:solidFill>
                <a:latin typeface="Courier New"/>
              </a:defRPr>
            </a:pPr>
            <a:r>
              <a:t>{</a:t>
            </a:r>
            <a:br/>
            <a:r>
              <a:t>  "session_id": "xxx",</a:t>
            </a:r>
            <a:br/>
            <a:r>
              <a:t>  "messages": [{</a:t>
            </a:r>
            <a:br/>
            <a:r>
              <a:t>    "id": "ai-3",</a:t>
            </a:r>
            <a:br/>
            <a:r>
              <a:t>    "conversation_turn_id": "98a93fe3...",</a:t>
            </a:r>
            <a:br/>
            <a:r>
              <a:t>    "tool_calls": [{</a:t>
            </a:r>
            <a:br/>
            <a:r>
              <a:t>      "tool_use_id": "call_xxx",</a:t>
            </a:r>
            <a:br/>
            <a:r>
              <a:t>      "tool_name": "WebSearch",</a:t>
            </a:r>
            <a:br/>
            <a:r>
              <a:t>      "tool_input": {...},</a:t>
            </a:r>
            <a:br/>
            <a:r>
              <a:t>      "conversation_turn_id": "98a93fe3..."</a:t>
            </a:r>
            <a:br/>
            <a:r>
              <a:t>    }]</a:t>
            </a:r>
            <a:br/>
            <a:r>
              <a:t>  }]</a:t>
            </a:r>
            <a:br/>
            <a: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3891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209C5D"/>
                </a:solidFill>
              </a:defRPr>
            </a:pPr>
            <a:r>
              <a:t>✅ conversation_turn_id - 对话轮次标识符，用于关联消息</a:t>
            </a:r>
          </a:p>
          <a:p>
            <a:pPr>
              <a:spcBef>
                <a:spcPts val="400"/>
              </a:spcBef>
              <a:defRPr sz="1100" b="1">
                <a:solidFill>
                  <a:srgbClr val="209C5D"/>
                </a:solidFill>
              </a:defRPr>
            </a:pPr>
            <a:r>
              <a:t>✅ tool_calls 数组 - 包含该消息的所有工具调用</a:t>
            </a:r>
          </a:p>
          <a:p>
            <a:pPr>
              <a:spcBef>
                <a:spcPts val="400"/>
              </a:spcBef>
              <a:defRPr sz="1100" b="1">
                <a:solidFill>
                  <a:srgbClr val="209C5D"/>
                </a:solidFill>
              </a:defRPr>
            </a:pPr>
            <a:r>
              <a:t>✅ 双重ID保障 - 消息级和工具级都有turn_id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669280"/>
            <a:ext cx="11277295" cy="914400"/>
          </a:xfrm>
          <a:prstGeom prst="roundRect">
            <a:avLst/>
          </a:prstGeom>
          <a:solidFill>
            <a:srgbClr val="E9ECEF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806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8C00"/>
                </a:solidFill>
              </a:defRPr>
            </a:pPr>
            <a:r>
              <a:t>🔄 数据转换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5806440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529"/>
                </a:solidFill>
              </a:defRPr>
            </a:pPr>
            <a:r>
              <a:t>保留 conversation_turn_id 和 tool_calls 字段，确保数据完整性不丢失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2179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C757D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274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264"/>
                </a:solidFill>
              </a:defRPr>
            </a:pPr>
            <a:r>
              <a:t>03 工具调用提取 | Tool Calls Extraction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47472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27632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00200"/>
            <a:ext cx="2697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78D7"/>
                </a:solidFill>
              </a:defRPr>
            </a:pPr>
            <a:r>
              <a:t>确定目标轮次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212529"/>
                </a:solidFill>
              </a:defRPr>
            </a:pPr>
            <a:r>
              <a:t>检查 selectedTurnId</a:t>
            </a:r>
          </a:p>
          <a:p>
            <a:r>
              <a:t>• 有值：使用用户选择</a:t>
            </a:r>
          </a:p>
          <a:p>
            <a:r>
              <a:t>• 无值：使用最新AI消息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463040"/>
            <a:ext cx="347472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89120" y="1554480"/>
            <a:ext cx="457200" cy="45720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627632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600200"/>
            <a:ext cx="2697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8C00"/>
                </a:solidFill>
              </a:defRPr>
            </a:pPr>
            <a:r>
              <a:t>遍历匹配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0116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212529"/>
                </a:solidFill>
              </a:defRPr>
            </a:pPr>
            <a:r>
              <a:t>遍历所有消息的 tool_calls</a:t>
            </a:r>
          </a:p>
          <a:p>
            <a:r>
              <a:t>• 匹配 conversation_turn_id</a:t>
            </a:r>
          </a:p>
          <a:p>
            <a:r>
              <a:t>• 字符串比较确保一致性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463040"/>
            <a:ext cx="3474720" cy="201168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09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0" y="1554480"/>
            <a:ext cx="457200" cy="457200"/>
          </a:xfrm>
          <a:prstGeom prst="ellipse">
            <a:avLst/>
          </a:prstGeom>
          <a:solidFill>
            <a:srgbClr val="209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627632"/>
            <a:ext cx="457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1600200"/>
            <a:ext cx="2697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09C5D"/>
                </a:solidFill>
              </a:defRPr>
            </a:pPr>
            <a:r>
              <a:t>更新状态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0116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212529"/>
                </a:solidFill>
              </a:defRPr>
            </a:pPr>
            <a:r>
              <a:t>setToolCalls(extracted)</a:t>
            </a:r>
          </a:p>
          <a:p>
            <a:r>
              <a:t>• 触发UI重新渲染</a:t>
            </a:r>
          </a:p>
          <a:p>
            <a:r>
              <a:t>• 显示选中轮次工具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84048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3264"/>
                </a:solidFill>
              </a:defRPr>
            </a:pPr>
            <a:r>
              <a:t>⚙️ 核心匹配逻辑 (ChatInterface.tsx:1368-1534)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297680"/>
            <a:ext cx="11277295" cy="1371600"/>
          </a:xfrm>
          <a:prstGeom prst="roundRect">
            <a:avLst/>
          </a:prstGeom>
          <a:solidFill>
            <a:srgbClr val="212529"/>
          </a:solidFill>
          <a:ln w="254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300">
                <a:solidFill>
                  <a:srgbClr val="64FF64"/>
                </a:solidFill>
                <a:latin typeface="Courier New"/>
              </a:defRPr>
            </a:pPr>
            <a:r>
              <a:t>const toolTurnIdStr = String(toolCallTurnId || '');</a:t>
            </a:r>
            <a:br/>
            <a:r>
              <a:t>const targetTurnIdStr = String(targetTurnId || '');</a:t>
            </a:r>
            <a:br/>
            <a:r>
              <a:t>if (toolTurnIdStr === targetTurnIdStr) {</a:t>
            </a:r>
            <a:br/>
            <a:r>
              <a:t>    extractedToolCalls.push({...});</a:t>
            </a:r>
            <a:br/>
            <a:r>
              <a:t>}</a:t>
            </a:r>
            <a:br/>
            <a:r>
              <a:t>setToolCalls(extractedToolCalls);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52160"/>
            <a:ext cx="5029200" cy="731520"/>
          </a:xfrm>
          <a:prstGeom prst="roundRect">
            <a:avLst/>
          </a:prstGeom>
          <a:solidFill>
            <a:srgbClr val="E6F2FF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43264"/>
                </a:solidFill>
              </a:defRPr>
            </a:pPr>
            <a:r>
              <a:t>📌 useEffect 依赖: [messages, sessionId, selectedTurnId]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5852160"/>
            <a:ext cx="5973775" cy="731520"/>
          </a:xfrm>
          <a:prstGeom prst="roundRect">
            <a:avLst/>
          </a:prstGeom>
          <a:solidFill>
            <a:srgbClr val="E6F2FF"/>
          </a:solidFill>
          <a:ln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8C00"/>
                </a:solidFill>
              </a:defRPr>
            </a:pPr>
            <a:r>
              <a:t>⚡ 性能优化：字符串比较避免类型不匹配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2179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C757D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274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264"/>
                </a:solidFill>
              </a:defRPr>
            </a:pPr>
            <a:r>
              <a:t>04 用户交互流程 | User Interaction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65760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212529"/>
                </a:solidFill>
              </a:defRPr>
            </a:pPr>
            <a:r>
              <a:t>🖱️ 方式一</a:t>
            </a:r>
          </a:p>
          <a:p/>
          <a:p>
            <a:r>
              <a:t>点击 AI 消息</a:t>
            </a:r>
          </a:p>
          <a:p>
            <a:r>
              <a:t>（长消息按钮）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63040"/>
            <a:ext cx="365760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20116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212529"/>
                </a:solidFill>
              </a:defRPr>
            </a:pPr>
            <a:r>
              <a:t>📝 方式二</a:t>
            </a:r>
          </a:p>
          <a:p/>
          <a:p>
            <a:r>
              <a:t>点击 AI 消息</a:t>
            </a:r>
          </a:p>
          <a:p>
            <a:r>
              <a:t>（短消息内容）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463040"/>
            <a:ext cx="3657600" cy="16459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09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0116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400" b="1">
                <a:solidFill>
                  <a:srgbClr val="212529"/>
                </a:solidFill>
              </a:defRPr>
            </a:pPr>
            <a:r>
              <a:t>👤 方式三</a:t>
            </a:r>
          </a:p>
          <a:p/>
          <a:p>
            <a:r>
              <a:t>点击用户消息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3264"/>
                </a:solidFill>
              </a:defRPr>
            </a:pPr>
            <a:r>
              <a:t>💻 代码实现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31920"/>
            <a:ext cx="5029200" cy="1645920"/>
          </a:xfrm>
          <a:prstGeom prst="roundRect">
            <a:avLst/>
          </a:prstGeom>
          <a:solidFill>
            <a:srgbClr val="212529"/>
          </a:solidFill>
          <a:ln w="25400"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100">
                <a:solidFill>
                  <a:srgbClr val="64FF64"/>
                </a:solidFill>
                <a:latin typeface="Courier New"/>
              </a:defRPr>
            </a:pPr>
            <a:r>
              <a:t>onClick={() =&gt; {</a:t>
            </a:r>
            <a:br/>
            <a:r>
              <a:t>  if (m.conversation_turn_id) {</a:t>
            </a:r>
            <a:br/>
            <a:r>
              <a:t>    setSelectedTurnId(</a:t>
            </a:r>
            <a:br/>
            <a:r>
              <a:t>      m.conversation_turn_id</a:t>
            </a:r>
            <a:br/>
            <a:r>
              <a:t>    );</a:t>
            </a:r>
            <a:br/>
            <a:r>
              <a:t>  }</a:t>
            </a:r>
            <a:br/>
            <a:r>
              <a:t>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3474720"/>
            <a:ext cx="59737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3264"/>
                </a:solidFill>
              </a:defRPr>
            </a:pPr>
            <a:r>
              <a:t>🔄 交互流程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3931920"/>
            <a:ext cx="5973775" cy="457200"/>
          </a:xfrm>
          <a:prstGeom prst="round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4023359"/>
            <a:ext cx="56080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用户点击消息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4526280"/>
            <a:ext cx="5973775" cy="4572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4617720"/>
            <a:ext cx="56080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设置 selectedTurnId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0" y="5120640"/>
            <a:ext cx="5973775" cy="457200"/>
          </a:xfrm>
          <a:prstGeom prst="roundRect">
            <a:avLst/>
          </a:prstGeom>
          <a:solidFill>
            <a:srgbClr val="209C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5212079"/>
            <a:ext cx="56080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触发 useEffect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60720" y="5715000"/>
            <a:ext cx="5973775" cy="457200"/>
          </a:xfrm>
          <a:prstGeom prst="roundRect">
            <a:avLst/>
          </a:prstGeom>
          <a:solidFill>
            <a:srgbClr val="14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5806440"/>
            <a:ext cx="56080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提取并显示工具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52160"/>
            <a:ext cx="11277295" cy="731520"/>
          </a:xfrm>
          <a:prstGeom prst="roundRect">
            <a:avLst/>
          </a:prstGeom>
          <a:solidFill>
            <a:srgbClr val="E9ECEF"/>
          </a:solidFill>
          <a:ln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12529"/>
                </a:solidFill>
              </a:defRPr>
            </a:pPr>
            <a:r>
              <a:t>📍 代码位置：ChatInterface.tsx:2112-2171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2179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C757D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274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264"/>
                </a:solidFill>
              </a:defRPr>
            </a:pPr>
            <a:r>
              <a:t>05 问题诊断方案 | Troubleshooting Guide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7295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12529"/>
                </a:solidFill>
              </a:defRPr>
            </a:pPr>
            <a:r>
              <a:t>❌ 问题 1 selectedTurnId 未设置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C757D"/>
                </a:solidFill>
              </a:defRPr>
            </a:pPr>
            <a:r>
              <a:t>点击消息无日志输出 → 检查 conversation_turn_id 字段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11277295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12529"/>
                </a:solidFill>
              </a:defRPr>
            </a:pPr>
            <a:r>
              <a:t>❌ 问题 2 useEffect 未触发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C757D"/>
                </a:solidFill>
              </a:defRPr>
            </a:pPr>
            <a:r>
              <a:t>状态变化无日志 → 确认依赖数组包含 selectedTurnId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566160"/>
            <a:ext cx="11277295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49039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12529"/>
                </a:solidFill>
              </a:defRPr>
            </a:pPr>
            <a:r>
              <a:t>❌ 问题 3 工具调用匹配失败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C757D"/>
                </a:solidFill>
              </a:defRPr>
            </a:pPr>
            <a:r>
              <a:t>检查匹配逻辑日志 → 验证类型转换和字符串比较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663440"/>
            <a:ext cx="11277295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8463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12529"/>
                </a:solidFill>
              </a:defRPr>
            </a:pPr>
            <a:r>
              <a:t>❌ 问题 4 后端数据缺失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66359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C757D"/>
                </a:solidFill>
              </a:defRPr>
            </a:pPr>
            <a:r>
              <a:t>tool_calls 缺少 turn_id → 确保后端返回完整数据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52160"/>
            <a:ext cx="11277295" cy="731520"/>
          </a:xfrm>
          <a:prstGeom prst="roundRect">
            <a:avLst/>
          </a:prstGeom>
          <a:solidFill>
            <a:srgbClr val="E6F2FF"/>
          </a:solidFill>
          <a:ln>
            <a:solidFill>
              <a:srgbClr val="007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3264"/>
                </a:solidFill>
              </a:defRPr>
            </a:pPr>
            <a:r>
              <a:t>💡 调试工具：使用控制台日志快速定位问题，参考右侧检查清单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2179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C757D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274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264"/>
                </a:solidFill>
              </a:defRPr>
            </a:pPr>
            <a:r>
              <a:t>06 关键代码索引 | Code Reference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286000" cy="548640"/>
          </a:xfrm>
          <a:prstGeom prst="roundRect">
            <a:avLst/>
          </a:prstGeom>
          <a:solidFill>
            <a:srgbClr val="14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功能模块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371600"/>
            <a:ext cx="5943600" cy="548640"/>
          </a:xfrm>
          <a:prstGeom prst="roundRect">
            <a:avLst/>
          </a:prstGeom>
          <a:solidFill>
            <a:srgbClr val="14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文件路径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1371600"/>
            <a:ext cx="2590495" cy="548640"/>
          </a:xfrm>
          <a:prstGeom prst="roundRect">
            <a:avLst/>
          </a:prstGeom>
          <a:solidFill>
            <a:srgbClr val="1432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代码行号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286000" cy="640080"/>
          </a:xfrm>
          <a:prstGeom prst="rect">
            <a:avLst/>
          </a:prstGeom>
          <a:solidFill>
            <a:srgbClr val="E9ECEF"/>
          </a:solidFill>
          <a:ln w="1270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12529"/>
                </a:solidFill>
              </a:defRPr>
            </a:pPr>
            <a:r>
              <a:t>API 调用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920240"/>
            <a:ext cx="5943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12529"/>
                </a:solidFill>
                <a:latin typeface="Courier New"/>
              </a:defRPr>
            </a:pPr>
            <a:r>
              <a:t>agentService.ts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1920240"/>
            <a:ext cx="2590495" cy="640080"/>
          </a:xfrm>
          <a:prstGeom prst="rect">
            <a:avLst/>
          </a:prstGeom>
          <a:solidFill>
            <a:srgbClr val="E6F2FF"/>
          </a:solidFill>
          <a:ln w="1270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8C00"/>
                </a:solidFill>
              </a:defRPr>
            </a:pPr>
            <a:r>
              <a:t>393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06040"/>
            <a:ext cx="2286000" cy="640080"/>
          </a:xfrm>
          <a:prstGeom prst="rect">
            <a:avLst/>
          </a:prstGeom>
          <a:solidFill>
            <a:srgbClr val="E9ECEF"/>
          </a:solidFill>
          <a:ln w="1270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12529"/>
                </a:solidFill>
              </a:defRPr>
            </a:pPr>
            <a:r>
              <a:t>数据转换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2606040"/>
            <a:ext cx="5943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12529"/>
                </a:solidFill>
                <a:latin typeface="Courier New"/>
              </a:defRPr>
            </a:pPr>
            <a:r>
              <a:t>agentService.ts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2606040"/>
            <a:ext cx="2590495" cy="640080"/>
          </a:xfrm>
          <a:prstGeom prst="rect">
            <a:avLst/>
          </a:prstGeom>
          <a:solidFill>
            <a:srgbClr val="E6F2FF"/>
          </a:solidFill>
          <a:ln w="1270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8C00"/>
                </a:solidFill>
              </a:defRPr>
            </a:pPr>
            <a:r>
              <a:t>414-448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91840"/>
            <a:ext cx="2286000" cy="640080"/>
          </a:xfrm>
          <a:prstGeom prst="rect">
            <a:avLst/>
          </a:prstGeom>
          <a:solidFill>
            <a:srgbClr val="E9ECEF"/>
          </a:solidFill>
          <a:ln w="1270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12529"/>
                </a:solidFill>
              </a:defRPr>
            </a:pPr>
            <a:r>
              <a:t>工具调用提取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3291840"/>
            <a:ext cx="5943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12529"/>
                </a:solidFill>
                <a:latin typeface="Courier New"/>
              </a:defRPr>
            </a:pPr>
            <a:r>
              <a:t>ChatInterface.tsx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3291840"/>
            <a:ext cx="2590495" cy="640080"/>
          </a:xfrm>
          <a:prstGeom prst="rect">
            <a:avLst/>
          </a:prstGeom>
          <a:solidFill>
            <a:srgbClr val="E6F2FF"/>
          </a:solidFill>
          <a:ln w="1270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8C00"/>
                </a:solidFill>
              </a:defRPr>
            </a:pPr>
            <a:r>
              <a:t>1368-1534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77639"/>
            <a:ext cx="2286000" cy="640080"/>
          </a:xfrm>
          <a:prstGeom prst="rect">
            <a:avLst/>
          </a:prstGeom>
          <a:solidFill>
            <a:srgbClr val="E9ECEF"/>
          </a:solidFill>
          <a:ln w="1270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12529"/>
                </a:solidFill>
              </a:defRPr>
            </a:pPr>
            <a:r>
              <a:t>点击消息设置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3977639"/>
            <a:ext cx="5943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12529"/>
                </a:solidFill>
                <a:latin typeface="Courier New"/>
              </a:defRPr>
            </a:pPr>
            <a:r>
              <a:t>ChatInterface.tsx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3977639"/>
            <a:ext cx="2590495" cy="640080"/>
          </a:xfrm>
          <a:prstGeom prst="rect">
            <a:avLst/>
          </a:prstGeom>
          <a:solidFill>
            <a:srgbClr val="E6F2FF"/>
          </a:solidFill>
          <a:ln w="1270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8C00"/>
                </a:solidFill>
              </a:defRPr>
            </a:pPr>
            <a:r>
              <a:t>2112-2171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663440"/>
            <a:ext cx="2286000" cy="640080"/>
          </a:xfrm>
          <a:prstGeom prst="rect">
            <a:avLst/>
          </a:prstGeom>
          <a:solidFill>
            <a:srgbClr val="E9ECEF"/>
          </a:solidFill>
          <a:ln w="1270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12529"/>
                </a:solidFill>
              </a:defRPr>
            </a:pPr>
            <a:r>
              <a:t>UI 渲染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4663440"/>
            <a:ext cx="5943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12529"/>
                </a:solidFill>
                <a:latin typeface="Courier New"/>
              </a:defRPr>
            </a:pPr>
            <a:r>
              <a:t>ChatInterface.tsx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0" y="4663440"/>
            <a:ext cx="2590495" cy="640080"/>
          </a:xfrm>
          <a:prstGeom prst="rect">
            <a:avLst/>
          </a:prstGeom>
          <a:solidFill>
            <a:srgbClr val="E6F2FF"/>
          </a:solidFill>
          <a:ln w="1270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8C00"/>
                </a:solidFill>
              </a:defRPr>
            </a:pPr>
            <a:r>
              <a:t>2518-2583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394960"/>
            <a:ext cx="112772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i="1">
                <a:solidFill>
                  <a:srgbClr val="6C757D"/>
                </a:solidFill>
              </a:defRPr>
            </a:pPr>
            <a:r>
              <a:t>📌 提示：使用 Ctrl+F (或 Cmd+F) 在代码编辑器中快速定位这些行号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2179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C757D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总结与建议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8C00"/>
                </a:solidFill>
              </a:defRPr>
            </a:pPr>
            <a:r>
              <a:t>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2560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数据流完整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25603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C8E6"/>
                </a:solidFill>
              </a:defRPr>
            </a:pPr>
            <a:r>
              <a:t>API → 转换 → 存储 → 提取 → 渲染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063239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8C00"/>
                </a:solidFill>
              </a:defRPr>
            </a:pPr>
            <a: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306323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数据结构完善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3063239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C8E6"/>
                </a:solidFill>
              </a:defRPr>
            </a:pPr>
            <a:r>
              <a:t>双重 ID 保障：消息级 + 工具级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661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8C00"/>
                </a:solidFill>
              </a:defRPr>
            </a:pPr>
            <a: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35661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交互逻辑清晰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566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C8E6"/>
                </a:solidFill>
              </a:defRPr>
            </a:pPr>
            <a:r>
              <a:t>点击 → 设置 → 提取 → 显示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0690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8C00"/>
                </a:solidFill>
              </a:defRPr>
            </a:pPr>
            <a:r>
              <a:t>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4069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问题定位明确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0690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C8E6"/>
                </a:solidFill>
              </a:defRPr>
            </a:pPr>
            <a:r>
              <a:t>重点检查提取匹配机制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5720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8C00"/>
                </a:solidFill>
              </a:defRPr>
            </a:pPr>
            <a:r>
              <a:t>🛠️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5720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调试工具完备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572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4C8E6"/>
                </a:solidFill>
              </a:defRPr>
            </a:pPr>
            <a:r>
              <a:t>完善的日志系统支持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5120640"/>
            <a:ext cx="3047695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4864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96C8FF"/>
                </a:solidFill>
              </a:defRPr>
            </a:pPr>
            <a:r>
              <a:t>基于完整代码分析与数据流梳理</a:t>
            </a:r>
          </a:p>
          <a:p>
            <a:pPr algn="ctr">
              <a:spcBef>
                <a:spcPts val="800"/>
              </a:spcBef>
              <a:defRPr sz="1200">
                <a:solidFill>
                  <a:srgbClr val="6496C8"/>
                </a:solidFill>
              </a:defRPr>
            </a:pPr>
            <a:r>
              <a:t>Technical Documentation | Generated by AI Assistant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2179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C757D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